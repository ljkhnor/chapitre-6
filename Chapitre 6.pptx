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57" r:id="rId2"/>
    <p:sldId id="258" r:id="rId3"/>
    <p:sldId id="259" r:id="rId4"/>
    <p:sldId id="261" r:id="rId5"/>
    <p:sldId id="262" r:id="rId6"/>
    <p:sldId id="264" r:id="rId7"/>
    <p:sldId id="265" r:id="rId8"/>
    <p:sldId id="292" r:id="rId9"/>
    <p:sldId id="293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94" r:id="rId19"/>
    <p:sldId id="295" r:id="rId20"/>
    <p:sldId id="274" r:id="rId21"/>
    <p:sldId id="275" r:id="rId22"/>
    <p:sldId id="276" r:id="rId23"/>
    <p:sldId id="277" r:id="rId24"/>
    <p:sldId id="296" r:id="rId25"/>
    <p:sldId id="278" r:id="rId26"/>
    <p:sldId id="297" r:id="rId27"/>
    <p:sldId id="298" r:id="rId28"/>
    <p:sldId id="279" r:id="rId29"/>
    <p:sldId id="280" r:id="rId30"/>
    <p:sldId id="281" r:id="rId31"/>
    <p:sldId id="299" r:id="rId32"/>
    <p:sldId id="300" r:id="rId33"/>
    <p:sldId id="282" r:id="rId34"/>
    <p:sldId id="283" r:id="rId35"/>
    <p:sldId id="284" r:id="rId36"/>
    <p:sldId id="286" r:id="rId37"/>
    <p:sldId id="301" r:id="rId38"/>
    <p:sldId id="287" r:id="rId39"/>
    <p:sldId id="288" r:id="rId40"/>
    <p:sldId id="289" r:id="rId41"/>
    <p:sldId id="290" r:id="rId4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351FF7-5C78-4294-846E-A935FF07D088}" type="datetimeFigureOut">
              <a:rPr lang="fr-BE" smtClean="0"/>
              <a:t>06-01-26</a:t>
            </a:fld>
            <a:endParaRPr lang="fr-BE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BE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428BD9-C303-42C0-88AC-10E59498CEEF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0474369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1. 5 puis 6</a:t>
            </a:r>
          </a:p>
          <a:p>
            <a:r>
              <a:rPr lang="fr-FR" dirty="0"/>
              <a:t>2. 9 puis 6</a:t>
            </a:r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12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408521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Les tableaux peuvent contenir des trous, pour infos</a:t>
            </a:r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14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019018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Faire une démo au tableau pour </a:t>
            </a:r>
            <a:r>
              <a:rPr lang="fr-FR" dirty="0" err="1"/>
              <a:t>chaques</a:t>
            </a:r>
            <a:r>
              <a:rPr lang="fr-FR" dirty="0"/>
              <a:t> accès avant d’afficher l’image</a:t>
            </a:r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16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6537837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22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925900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 dirty="0"/>
              <a:t>Note : une propriété peut être déclarée "non énumérable" ! Dans ce cas-là, elle ne sera pas visitée par un for-in.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25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9203530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 dirty="0"/>
              <a:t>Note : on peut rendre n'importe quel objet itérable en lui ajoutant une propriété indiquant comment visiter ses propriétés énumérables (cela dépasse le cadre du cours – mot-clef : </a:t>
            </a:r>
            <a:r>
              <a:rPr lang="fr-BE" dirty="0" err="1"/>
              <a:t>Symbol.iterator</a:t>
            </a:r>
            <a:r>
              <a:rPr lang="fr-BE" dirty="0"/>
              <a:t>)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26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1826872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 dirty="0"/>
              <a:t>Mauvaise méthode : ajouter une fonction à chaque objet</a:t>
            </a:r>
          </a:p>
          <a:p>
            <a:r>
              <a:rPr lang="fr-BE" dirty="0"/>
              <a:t>Meilleur méthode : placer une méthode dans un objet à part et dire que tous les personnages en héritent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31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7281063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46276-8776-315D-F0CA-D1F845264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BD3CC4A-F3D5-D18C-0CAC-6A91DC0038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6E78377-AD37-DE40-A5EF-DC9D4B05C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 dirty="0"/>
              <a:t>Mauvaise méthode : ajouter une fonction à chaque objet</a:t>
            </a:r>
          </a:p>
          <a:p>
            <a:r>
              <a:rPr lang="fr-BE" dirty="0"/>
              <a:t>Meilleur méthode : placer une méthode dans un objet à part et dire que tous les personnages en héritent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7CB8B54-1B96-7D0B-9D51-BF7E8327CC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32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811606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34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5992486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 dirty="0"/>
              <a:t>13	13	7	13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36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255195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 dirty="0"/>
              <a:t>13	13	7	7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37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19405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726AA5-7EDD-79F9-FFFD-FC057270CA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D416B0B-6349-60E9-56E4-A250477199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5776B64-F594-9B20-63EC-F489E36B8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06-01-26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E22F01F-53D6-D7FA-1D2F-BC2D4E2DA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DD1B2DE-EF91-F647-2ACE-5311B6FED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3352336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38A851-DAB9-61BB-EB90-71C0A4DA5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1AABEF4-3C25-8CFE-9864-582502127A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7853E1A-9A4C-9439-2B2B-11DD656AD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06-01-26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6F3E6DB-9A8F-3FF1-B344-03AD76533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A679497-F53F-0979-6F8C-D5A781ECF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20611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4BD89A-1A0D-B69B-4823-0596FF1EC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00EEC3E-D089-13BB-2814-A36A5D64D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3E4270A-7A71-BAE5-422D-C3EAF82CD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06-01-26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6F82FB4-36B4-E741-9173-D2C99197C2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26B4234-D691-D6F7-B2EC-B091C582D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2316653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8CB5B0-2AC7-6ED7-4AE7-874B483A3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3E310FB-BD1C-F384-6662-9CCFB15582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512DC72-7BA6-5955-AEA7-EEA537EA79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5B674F4-C245-185F-F78B-2BB77203F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06-01-26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3ED6593-4FE6-3A1B-F63E-E999A113C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85BFCE0-A303-B0AE-CF97-693E1FE17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139213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74F392-BD39-6954-A6AA-F96BD5D57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EF6EE33-878A-63E5-BAD5-8220CCB822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EF1C887-387B-E6D5-A062-F2E083C09F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443AFE9-2525-5A97-5282-72914D3C4A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A6C3E6E5-4DE6-94CC-0C72-A2C6D55350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A02D8D4-F706-36C5-3FD0-ED9528EF9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06-01-26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2D62DB6C-0DAD-777E-17DA-FA5AA24BA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EB81339-A634-73AC-080F-1BF22D406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7014575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0494F9-CC46-CDC3-3F57-4B02AEAA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14DE79E2-2B9E-C662-C557-7698B2C3D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06-01-26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30C8492-8305-47C7-9820-C45A7C4FF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8A36DF8-DAF8-D150-CC8B-771552CA4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2244201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FAFD8A2-3F4B-5FD8-5511-52A0C232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06-01-26</a:t>
            </a:fld>
            <a:endParaRPr lang="fr-BE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F3A35D3-4AC3-694B-192A-A3C4A8FC3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6FE6382-C2CA-2F92-63E1-EAD2EBE1D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6093821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6B4EC5-C37B-BEF5-2051-80656C393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B6534F8-B826-0B5B-447D-746848A04E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3040E5C-A706-908E-ACF7-6DF8B08CD3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33D1F6B-6B61-8C49-D7BA-1EBEF2A98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06-01-26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A5386AD-402D-8A0A-A0A9-707100B44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BFBD4DC-23EF-996E-C570-A3E627EBF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2878917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41C60A-BE30-B281-A53A-EDAF5A8C2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22E7F3AE-EEFE-67E5-033B-4203AF2927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882C108-5808-F36D-3D9C-AEEA213502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F80123F-9664-6B27-2E72-24333F5FA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06-01-26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604F52D-52F1-96ED-403C-E64EB432E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7398B40-1772-5D3B-6863-2DFCD2932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410622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B9E643-0B61-0D44-E49A-FAA43BB8C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B01994A-4BF9-A7C6-F892-494C999D02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6FA5CE5-E717-D81F-E94F-E2237A7D6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06-01-26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0BDAF0D-F49A-FA8B-7D98-E731A57FB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722E4D5-9C09-3BEF-4758-ABE4907C2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1423001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CACB59B-5C2A-87B2-5394-79BA68EA31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387D57E-746E-62F3-311D-ADC67D9AF5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C0B578D-1248-0C88-CC84-451209C3B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06-01-26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41E8EDF-9A3B-CAD2-574C-B8A4716C1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387773-F265-BABC-9373-25B12951A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399365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67B5B02-E9F6-F054-53FE-33DDD6E3F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03CAEFA-F161-2FCE-5B66-B494EC7766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1751859-5BE5-10BA-E623-8ECC6A675B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BED520-9047-4E94-9C6B-DE22BBDBA390}" type="datetimeFigureOut">
              <a:rPr lang="fr-BE" smtClean="0"/>
              <a:t>06-01-26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265FE0D-10F7-A835-6A32-A37A4390C1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DCA52C-9303-D118-4B62-FDB3594001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40588697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5D9817-AAD7-BA29-E49B-7408C5100E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/>
              <a:t>Module 1 – Programmation web Frontend</a:t>
            </a:r>
            <a:endParaRPr lang="fr-BE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3850D4C-AB8A-A34A-F5CF-E6E9CE8526C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090821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8AEC00-E3FB-38E3-2A52-F95BCA130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Planning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6FD568-860B-6905-CD7B-EF0A605B0F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fr-BE" dirty="0"/>
              <a:t>PWF</a:t>
            </a:r>
          </a:p>
          <a:p>
            <a:r>
              <a:rPr lang="fr-BE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04/10/25 – Chapitre 1. Introduction web – fonctionnement, vocabulaire, prise en main des outils et Introduction au langage HTML</a:t>
            </a:r>
          </a:p>
          <a:p>
            <a:r>
              <a:rPr lang="fr-BE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18/10/25 – Chapitre 2. Introduction web – HTML et CSS</a:t>
            </a:r>
          </a:p>
          <a:p>
            <a:r>
              <a:rPr lang="fr-BE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8/11/25 – Chapitre 3. Introduction web – Arborescence et Formulaire</a:t>
            </a:r>
          </a:p>
          <a:p>
            <a:r>
              <a:rPr lang="fr-BE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22/11/25 – Chapitre 4. Introduction Team Workflow - Git</a:t>
            </a:r>
          </a:p>
          <a:p>
            <a:r>
              <a:rPr lang="fr-BE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06/12/25 – Chapitre 5. Introduction à Javascript, Variables et valeurs</a:t>
            </a:r>
          </a:p>
          <a:p>
            <a:r>
              <a:rPr lang="fr-B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10/01/26 – Chapitre 6. Javascript : Fonctions, tableaux, objets, prototypes et constructeurs</a:t>
            </a:r>
          </a:p>
          <a:p>
            <a:r>
              <a:rPr lang="fr-BE" dirty="0"/>
              <a:t>24/01/26 - Chapitre 7. Javascript : DOM et programmation évènementiel, expression régulière</a:t>
            </a:r>
          </a:p>
          <a:p>
            <a:r>
              <a:rPr lang="fr-BE" dirty="0"/>
              <a:t>07/02/26 - Chapitre 8. Javascript : Fonctions avancées et compléments</a:t>
            </a:r>
          </a:p>
          <a:p>
            <a:r>
              <a:rPr lang="fr-BE" dirty="0"/>
              <a:t>21/02/26 - Chapitre 9. Javascript : Framework (React.js, Angular.js et Vue.js)</a:t>
            </a:r>
          </a:p>
          <a:p>
            <a:r>
              <a:rPr lang="fr-BE" dirty="0"/>
              <a:t>14/03/26 - Examen</a:t>
            </a:r>
          </a:p>
          <a:p>
            <a:pPr marL="0" indent="0">
              <a:buNone/>
            </a:pPr>
            <a:r>
              <a:rPr lang="fr-BE" dirty="0"/>
              <a:t>PWB</a:t>
            </a:r>
          </a:p>
          <a:p>
            <a:r>
              <a:rPr lang="fr-BE" dirty="0"/>
              <a:t>28/03/26 –  Chapitre 1.</a:t>
            </a:r>
          </a:p>
          <a:p>
            <a:r>
              <a:rPr lang="fr-BE" dirty="0"/>
              <a:t>11/04/26 –  Chapitre 2.</a:t>
            </a:r>
          </a:p>
          <a:p>
            <a:r>
              <a:rPr lang="fr-BE" dirty="0"/>
              <a:t>25/04/26 –  Chapitre 3.</a:t>
            </a:r>
          </a:p>
          <a:p>
            <a:r>
              <a:rPr lang="fr-BE" dirty="0"/>
              <a:t>23/05/26 - Examen </a:t>
            </a:r>
          </a:p>
          <a:p>
            <a:pPr marL="0" indent="0">
              <a:buNone/>
            </a:pP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494554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DAE835-F7C3-5C8C-838E-E17B3FDAE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Chapitre 6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F136D1A-85D3-F059-4444-83ED460665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1. Fonctions</a:t>
            </a:r>
          </a:p>
          <a:p>
            <a:pPr lvl="1"/>
            <a:r>
              <a:rPr lang="fr-FR" dirty="0"/>
              <a:t>Fonction nommée ( &lt;&gt; fonction anonymes)</a:t>
            </a:r>
          </a:p>
          <a:p>
            <a:pPr lvl="2"/>
            <a:r>
              <a:rPr lang="fr-FR" dirty="0"/>
              <a:t>Définition + </a:t>
            </a:r>
            <a:r>
              <a:rPr lang="fr-FR" dirty="0" err="1"/>
              <a:t>hoisting</a:t>
            </a:r>
            <a:endParaRPr lang="fr-FR" dirty="0"/>
          </a:p>
          <a:p>
            <a:pPr lvl="2"/>
            <a:r>
              <a:rPr lang="fr-FR" dirty="0"/>
              <a:t>Utilisation</a:t>
            </a:r>
          </a:p>
          <a:p>
            <a:pPr lvl="2"/>
            <a:r>
              <a:rPr lang="fr-FR" dirty="0"/>
              <a:t>Fonctions prédéfinies</a:t>
            </a:r>
          </a:p>
          <a:p>
            <a:pPr lvl="2"/>
            <a:r>
              <a:rPr lang="fr-FR" dirty="0"/>
              <a:t>Exercice</a:t>
            </a:r>
          </a:p>
          <a:p>
            <a:r>
              <a:rPr lang="fr-FR" dirty="0"/>
              <a:t>2. Tableaux</a:t>
            </a:r>
            <a:endParaRPr lang="fr-BE" dirty="0"/>
          </a:p>
          <a:p>
            <a:pPr lvl="1"/>
            <a:r>
              <a:rPr lang="fr-BE" dirty="0"/>
              <a:t>Caractéristiques</a:t>
            </a:r>
          </a:p>
          <a:p>
            <a:pPr lvl="1"/>
            <a:r>
              <a:rPr lang="fr-BE" dirty="0"/>
              <a:t>Création </a:t>
            </a:r>
          </a:p>
          <a:p>
            <a:pPr lvl="1"/>
            <a:r>
              <a:rPr lang="fr-BE" dirty="0"/>
              <a:t>Utiliser </a:t>
            </a:r>
          </a:p>
          <a:p>
            <a:pPr lvl="1"/>
            <a:r>
              <a:rPr lang="fr-BE" dirty="0"/>
              <a:t>Parcours</a:t>
            </a:r>
          </a:p>
        </p:txBody>
      </p:sp>
    </p:spTree>
    <p:extLst>
      <p:ext uri="{BB962C8B-B14F-4D97-AF65-F5344CB8AC3E}">
        <p14:creationId xmlns:p14="http://schemas.microsoft.com/office/powerpoint/2010/main" val="2090089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063E9-1BAC-63DB-CAB8-17A2AE1CD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2D8B7C-4663-5893-35E6-1A2F477070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Chapitre 6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24A2FEF-1AB0-F4D3-50CD-E87FE5531A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3. Objets</a:t>
            </a:r>
          </a:p>
          <a:p>
            <a:pPr lvl="1"/>
            <a:r>
              <a:rPr lang="fr-FR" dirty="0"/>
              <a:t>Caractéristique </a:t>
            </a:r>
          </a:p>
          <a:p>
            <a:pPr lvl="1"/>
            <a:r>
              <a:rPr lang="fr-FR" dirty="0"/>
              <a:t>Création</a:t>
            </a:r>
          </a:p>
          <a:p>
            <a:pPr lvl="1"/>
            <a:r>
              <a:rPr lang="fr-FR" dirty="0"/>
              <a:t>Utilisation</a:t>
            </a:r>
          </a:p>
          <a:p>
            <a:pPr lvl="1"/>
            <a:r>
              <a:rPr lang="fr-FR" dirty="0"/>
              <a:t>Valeurs primitives</a:t>
            </a:r>
          </a:p>
          <a:p>
            <a:pPr lvl="1"/>
            <a:r>
              <a:rPr lang="fr-FR" dirty="0"/>
              <a:t>Orienté objet</a:t>
            </a: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42460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0B11B-D65F-771F-3B26-98E246C7E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34F4DC-2095-19F7-3516-5EE5546C4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Chapitre 6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B754D97-93A1-97D6-B9CE-620392DAC1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4. Prototypes</a:t>
            </a:r>
          </a:p>
          <a:p>
            <a:pPr lvl="1"/>
            <a:r>
              <a:rPr lang="fr-FR" dirty="0"/>
              <a:t>Pourquoi faire ?</a:t>
            </a:r>
          </a:p>
          <a:p>
            <a:pPr lvl="1"/>
            <a:r>
              <a:rPr lang="fr-FR" dirty="0"/>
              <a:t>Création</a:t>
            </a:r>
          </a:p>
          <a:p>
            <a:pPr lvl="1"/>
            <a:r>
              <a:rPr lang="fr-FR" dirty="0"/>
              <a:t>Héritage</a:t>
            </a:r>
          </a:p>
          <a:p>
            <a:pPr lvl="1"/>
            <a:r>
              <a:rPr lang="fr-FR" dirty="0"/>
              <a:t>__proto__</a:t>
            </a:r>
          </a:p>
          <a:p>
            <a:pPr lvl="1"/>
            <a:r>
              <a:rPr lang="fr-FR" dirty="0"/>
              <a:t>Exercices</a:t>
            </a:r>
          </a:p>
          <a:p>
            <a:r>
              <a:rPr lang="fr-FR" dirty="0"/>
              <a:t>5. Constructeurs</a:t>
            </a:r>
          </a:p>
          <a:p>
            <a:pPr lvl="1"/>
            <a:r>
              <a:rPr lang="fr-FR" dirty="0"/>
              <a:t>Définition</a:t>
            </a:r>
          </a:p>
          <a:p>
            <a:pPr lvl="1"/>
            <a:r>
              <a:rPr lang="fr-FR" dirty="0"/>
              <a:t>Utilisation</a:t>
            </a:r>
          </a:p>
          <a:p>
            <a:pPr lvl="1"/>
            <a:r>
              <a:rPr lang="fr-FR" dirty="0"/>
              <a:t>Mauvaise Utilisation</a:t>
            </a:r>
          </a:p>
          <a:p>
            <a:pPr lvl="1"/>
            <a:r>
              <a:rPr lang="fr-FR" dirty="0"/>
              <a:t>Orienté objet en JS (3)</a:t>
            </a:r>
          </a:p>
        </p:txBody>
      </p:sp>
    </p:spTree>
    <p:extLst>
      <p:ext uri="{BB962C8B-B14F-4D97-AF65-F5344CB8AC3E}">
        <p14:creationId xmlns:p14="http://schemas.microsoft.com/office/powerpoint/2010/main" val="2008514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5E87F6-0CE4-4867-B566-DCDDF5C52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F2D54EF-7606-D917-FA2A-1AFE29771F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8161673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5A3C58-D986-C1FC-4E43-BE7425B41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Fonctions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1A27DBC-E554-E8F1-39B3-E96299D307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Fonction nommée ( &lt;&gt; fonction anonymes)</a:t>
            </a:r>
          </a:p>
          <a:p>
            <a:pPr lvl="1"/>
            <a:r>
              <a:rPr lang="fr-FR" dirty="0"/>
              <a:t>Définition (3) + </a:t>
            </a:r>
            <a:r>
              <a:rPr lang="fr-FR" dirty="0" err="1"/>
              <a:t>hoisting</a:t>
            </a:r>
            <a:endParaRPr lang="fr-FR" dirty="0"/>
          </a:p>
          <a:p>
            <a:pPr lvl="2"/>
            <a:r>
              <a:rPr lang="fr-FR" dirty="0"/>
              <a:t>Déclaration standard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r>
              <a:rPr lang="fr-FR" dirty="0"/>
              <a:t>Return permet de faire sortir une information hors du scope de la fonction</a:t>
            </a:r>
          </a:p>
          <a:p>
            <a:pPr lvl="2"/>
            <a:r>
              <a:rPr lang="fr-FR" dirty="0"/>
              <a:t>La déclaration est </a:t>
            </a:r>
            <a:r>
              <a:rPr lang="fr-FR" dirty="0" err="1"/>
              <a:t>hoistée</a:t>
            </a:r>
            <a:r>
              <a:rPr lang="fr-FR" dirty="0"/>
              <a:t> en tête du scope fonctionnel</a:t>
            </a:r>
          </a:p>
        </p:txBody>
      </p:sp>
      <p:pic>
        <p:nvPicPr>
          <p:cNvPr id="5" name="Image 4" descr="Une image contenant texte, Police, écriture manuscrite, ligne&#10;&#10;Le contenu généré par l’IA peut être incorrect.">
            <a:extLst>
              <a:ext uri="{FF2B5EF4-FFF2-40B4-BE49-F238E27FC236}">
                <a16:creationId xmlns:a16="http://schemas.microsoft.com/office/drawing/2014/main" id="{16FC8C4C-FE21-456B-3688-41E7AE5E1B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1227" y="2589722"/>
            <a:ext cx="5372850" cy="22291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9379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9708B-4504-4DC9-6B08-7AC9398BD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19052C-CD37-0FF9-473C-13CE942CC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Fonctions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0A28E8D-5FCE-0A38-7299-448EAB0CFE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Fonction nommée </a:t>
            </a:r>
          </a:p>
          <a:p>
            <a:pPr lvl="1"/>
            <a:r>
              <a:rPr lang="fr-FR" dirty="0"/>
              <a:t>Définition (3) + </a:t>
            </a:r>
            <a:r>
              <a:rPr lang="fr-FR" dirty="0" err="1"/>
              <a:t>hoisting</a:t>
            </a:r>
            <a:endParaRPr lang="fr-FR" dirty="0"/>
          </a:p>
          <a:p>
            <a:pPr lvl="2"/>
            <a:r>
              <a:rPr lang="fr-FR" dirty="0"/>
              <a:t>expression fonctionnelle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r>
              <a:rPr lang="fr-FR" dirty="0"/>
              <a:t>La déclaration fonctionnelle est une déclaration de variable</a:t>
            </a:r>
          </a:p>
          <a:p>
            <a:pPr lvl="2"/>
            <a:r>
              <a:rPr lang="fr-FR" dirty="0"/>
              <a:t>Avec var, la déclaration est </a:t>
            </a:r>
            <a:r>
              <a:rPr lang="fr-FR" dirty="0" err="1"/>
              <a:t>hoistée</a:t>
            </a:r>
            <a:r>
              <a:rPr lang="fr-FR" dirty="0"/>
              <a:t> en tête de scope fonctionnel, </a:t>
            </a:r>
            <a:r>
              <a:rPr lang="fr-FR" u="sng" dirty="0"/>
              <a:t>mais pas l’initialisation</a:t>
            </a:r>
          </a:p>
        </p:txBody>
      </p:sp>
      <p:pic>
        <p:nvPicPr>
          <p:cNvPr id="6" name="Image 5" descr="Une image contenant texte, Police, ligne, blanc&#10;&#10;Le contenu généré par l’IA peut être incorrect.">
            <a:extLst>
              <a:ext uri="{FF2B5EF4-FFF2-40B4-BE49-F238E27FC236}">
                <a16:creationId xmlns:a16="http://schemas.microsoft.com/office/drawing/2014/main" id="{93B7ED48-E34B-83EA-5E25-00080305E5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0144" y="3062673"/>
            <a:ext cx="5363323" cy="106694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3692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EC62E-1CD1-FAE3-6D3E-CF04CD801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25E19C-D08D-6E67-16A6-18B1F9770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Fonctions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FD57C3-613A-EABB-D1A8-73C33DDC92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FR" dirty="0"/>
              <a:t>Fonction nommée </a:t>
            </a:r>
          </a:p>
          <a:p>
            <a:pPr lvl="1"/>
            <a:r>
              <a:rPr lang="fr-FR" dirty="0"/>
              <a:t>Définition (3) + </a:t>
            </a:r>
            <a:r>
              <a:rPr lang="fr-FR" dirty="0" err="1"/>
              <a:t>hoisting</a:t>
            </a:r>
            <a:endParaRPr lang="fr-FR" dirty="0"/>
          </a:p>
          <a:p>
            <a:pPr lvl="2"/>
            <a:r>
              <a:rPr lang="fr-FR" dirty="0"/>
              <a:t>Via constructeur </a:t>
            </a:r>
            <a:r>
              <a:rPr lang="fr-FR" dirty="0" err="1"/>
              <a:t>Function</a:t>
            </a:r>
            <a:endParaRPr lang="fr-FR" dirty="0"/>
          </a:p>
          <a:p>
            <a:pPr lvl="3"/>
            <a:endParaRPr lang="fr-FR" dirty="0"/>
          </a:p>
          <a:p>
            <a:pPr lvl="3"/>
            <a:endParaRPr lang="fr-FR" dirty="0"/>
          </a:p>
          <a:p>
            <a:pPr lvl="3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r>
              <a:rPr lang="fr-FR" dirty="0"/>
              <a:t>Une fonction est un objet</a:t>
            </a:r>
          </a:p>
          <a:p>
            <a:pPr lvl="2"/>
            <a:r>
              <a:rPr lang="fr-FR" dirty="0"/>
              <a:t>Ordre des arguments du constructeur</a:t>
            </a:r>
          </a:p>
          <a:p>
            <a:pPr lvl="3"/>
            <a:r>
              <a:rPr lang="fr-FR" dirty="0"/>
              <a:t>Paramètres formels</a:t>
            </a:r>
          </a:p>
          <a:p>
            <a:pPr lvl="3"/>
            <a:r>
              <a:rPr lang="fr-FR" dirty="0"/>
              <a:t>Code</a:t>
            </a:r>
          </a:p>
          <a:p>
            <a:pPr lvl="2"/>
            <a:r>
              <a:rPr lang="fr-FR" dirty="0"/>
              <a:t>Avec var, la déclaration est </a:t>
            </a:r>
            <a:r>
              <a:rPr lang="fr-FR" dirty="0" err="1"/>
              <a:t>hoistée</a:t>
            </a:r>
            <a:r>
              <a:rPr lang="fr-FR" dirty="0"/>
              <a:t> en tête de scope fonctionnel, </a:t>
            </a:r>
            <a:r>
              <a:rPr lang="fr-FR" u="sng" dirty="0"/>
              <a:t>mais pas l’initialisation</a:t>
            </a:r>
          </a:p>
          <a:p>
            <a:pPr lvl="2"/>
            <a:r>
              <a:rPr lang="fr-FR" dirty="0"/>
              <a:t>[Clean Code] </a:t>
            </a:r>
            <a:r>
              <a:rPr lang="fr-FR" dirty="0">
                <a:solidFill>
                  <a:srgbClr val="FF0000"/>
                </a:solidFill>
              </a:rPr>
              <a:t>à éviter</a:t>
            </a:r>
          </a:p>
          <a:p>
            <a:pPr lvl="2"/>
            <a:endParaRPr lang="fr-FR" dirty="0"/>
          </a:p>
          <a:p>
            <a:pPr lvl="2"/>
            <a:endParaRPr lang="fr-FR" dirty="0"/>
          </a:p>
        </p:txBody>
      </p:sp>
      <p:pic>
        <p:nvPicPr>
          <p:cNvPr id="5" name="Image 4" descr="Une image contenant texte, Police, Bleu électrique, blanc&#10;&#10;Le contenu généré par l’IA peut être incorrect.">
            <a:extLst>
              <a:ext uri="{FF2B5EF4-FFF2-40B4-BE49-F238E27FC236}">
                <a16:creationId xmlns:a16="http://schemas.microsoft.com/office/drawing/2014/main" id="{20750B8D-9088-9A68-134E-4EED5953D6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6559" y="2685946"/>
            <a:ext cx="6011114" cy="14861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7261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AEC9C-2797-0E2A-FA74-985C30751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E8C569-15E4-4E23-8121-5EDB4E136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Fonctions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DCBEE89-6EA4-81BA-C6E3-DC6A40E519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FR" dirty="0"/>
              <a:t>Fonction nommée </a:t>
            </a:r>
          </a:p>
          <a:p>
            <a:pPr lvl="1"/>
            <a:r>
              <a:rPr lang="fr-FR" dirty="0"/>
              <a:t>Utilisation </a:t>
            </a:r>
            <a:r>
              <a:rPr lang="fr-FR" dirty="0">
                <a:sym typeface="Wingdings" panose="05000000000000000000" pitchFamily="2" charset="2"/>
              </a:rPr>
              <a:t> appeler une fonction nommée</a:t>
            </a:r>
          </a:p>
          <a:p>
            <a:pPr lvl="1"/>
            <a:endParaRPr lang="fr-FR" dirty="0">
              <a:sym typeface="Wingdings" panose="05000000000000000000" pitchFamily="2" charset="2"/>
            </a:endParaRPr>
          </a:p>
          <a:p>
            <a:pPr lvl="1"/>
            <a:endParaRPr lang="fr-FR" dirty="0">
              <a:sym typeface="Wingdings" panose="05000000000000000000" pitchFamily="2" charset="2"/>
            </a:endParaRPr>
          </a:p>
          <a:p>
            <a:pPr lvl="1"/>
            <a:endParaRPr lang="fr-FR" dirty="0">
              <a:sym typeface="Wingdings" panose="05000000000000000000" pitchFamily="2" charset="2"/>
            </a:endParaRPr>
          </a:p>
          <a:p>
            <a:pPr lvl="1"/>
            <a:endParaRPr lang="fr-FR" dirty="0">
              <a:sym typeface="Wingdings" panose="05000000000000000000" pitchFamily="2" charset="2"/>
            </a:endParaRPr>
          </a:p>
          <a:p>
            <a:pPr lvl="1"/>
            <a:r>
              <a:rPr lang="fr-FR" dirty="0">
                <a:sym typeface="Wingdings" panose="05000000000000000000" pitchFamily="2" charset="2"/>
              </a:rPr>
              <a:t>Attention</a:t>
            </a:r>
          </a:p>
          <a:p>
            <a:pPr lvl="2"/>
            <a:r>
              <a:rPr lang="fr-FR" dirty="0">
                <a:sym typeface="Wingdings" panose="05000000000000000000" pitchFamily="2" charset="2"/>
              </a:rPr>
              <a:t>Aucune vérification de type</a:t>
            </a:r>
          </a:p>
          <a:p>
            <a:pPr lvl="2"/>
            <a:r>
              <a:rPr lang="fr-FR" dirty="0">
                <a:sym typeface="Wingdings" panose="05000000000000000000" pitchFamily="2" charset="2"/>
              </a:rPr>
              <a:t>Aucune vérification du nombre de paramètres</a:t>
            </a:r>
          </a:p>
          <a:p>
            <a:pPr lvl="3"/>
            <a:r>
              <a:rPr lang="fr-FR" dirty="0">
                <a:sym typeface="Wingdings" panose="05000000000000000000" pitchFamily="2" charset="2"/>
              </a:rPr>
              <a:t>Trop: les derniers sont ignorés</a:t>
            </a:r>
          </a:p>
          <a:p>
            <a:pPr lvl="3"/>
            <a:r>
              <a:rPr lang="fr-FR" dirty="0">
                <a:sym typeface="Wingdings" panose="05000000000000000000" pitchFamily="2" charset="2"/>
              </a:rPr>
              <a:t>Pas assez : complété avec des </a:t>
            </a:r>
            <a:r>
              <a:rPr lang="fr-FR" dirty="0" err="1">
                <a:sym typeface="Wingdings" panose="05000000000000000000" pitchFamily="2" charset="2"/>
              </a:rPr>
              <a:t>undefined</a:t>
            </a:r>
            <a:endParaRPr lang="fr-FR" dirty="0">
              <a:sym typeface="Wingdings" panose="05000000000000000000" pitchFamily="2" charset="2"/>
            </a:endParaRPr>
          </a:p>
          <a:p>
            <a:pPr lvl="2"/>
            <a:r>
              <a:rPr lang="fr-FR" dirty="0">
                <a:sym typeface="Wingdings" panose="05000000000000000000" pitchFamily="2" charset="2"/>
              </a:rPr>
              <a:t>Passage par valeurs pour les types primitifs</a:t>
            </a:r>
          </a:p>
          <a:p>
            <a:pPr lvl="2"/>
            <a:r>
              <a:rPr lang="fr-FR" dirty="0">
                <a:sym typeface="Wingdings" panose="05000000000000000000" pitchFamily="2" charset="2"/>
              </a:rPr>
              <a:t>Passage par référence pour les objets</a:t>
            </a:r>
          </a:p>
          <a:p>
            <a:pPr lvl="1"/>
            <a:endParaRPr lang="fr-FR" dirty="0"/>
          </a:p>
        </p:txBody>
      </p:sp>
      <p:pic>
        <p:nvPicPr>
          <p:cNvPr id="5" name="Image 4" descr="Une image contenant texte, Police, lign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AAAD0559-5F3A-1BC9-E946-0E28B61A2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448" y="2681183"/>
            <a:ext cx="6773220" cy="14956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3775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C66CA-A437-62BB-1968-A60E5DE39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004534-0B7E-6658-F951-914084B8B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Fonctions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4B1C01C-0ACC-65DA-E350-D7C601FEB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Fonction nommée </a:t>
            </a:r>
          </a:p>
          <a:p>
            <a:pPr lvl="1"/>
            <a:r>
              <a:rPr lang="fr-FR" dirty="0"/>
              <a:t>Fonctions prédéfinies</a:t>
            </a:r>
          </a:p>
          <a:p>
            <a:pPr lvl="2"/>
            <a:r>
              <a:rPr lang="fr-FR" dirty="0"/>
              <a:t>Eval </a:t>
            </a:r>
            <a:r>
              <a:rPr lang="fr-FR" dirty="0">
                <a:sym typeface="Wingdings" panose="05000000000000000000" pitchFamily="2" charset="2"/>
              </a:rPr>
              <a:t> retourne la valeur d’un code JS (!!lent)</a:t>
            </a:r>
            <a:endParaRPr lang="fr-FR" dirty="0"/>
          </a:p>
          <a:p>
            <a:pPr lvl="2"/>
            <a:r>
              <a:rPr lang="fr-FR" dirty="0" err="1"/>
              <a:t>isNan</a:t>
            </a:r>
            <a:r>
              <a:rPr lang="fr-FR" dirty="0"/>
              <a:t> </a:t>
            </a:r>
            <a:r>
              <a:rPr lang="fr-FR" dirty="0">
                <a:sym typeface="Wingdings" panose="05000000000000000000" pitchFamily="2" charset="2"/>
              </a:rPr>
              <a:t> retourne si la valeur n’est pas un nombre</a:t>
            </a:r>
            <a:r>
              <a:rPr lang="fr-FR" dirty="0"/>
              <a:t> </a:t>
            </a:r>
          </a:p>
          <a:p>
            <a:pPr lvl="2"/>
            <a:r>
              <a:rPr lang="fr-FR" dirty="0" err="1"/>
              <a:t>isFinite</a:t>
            </a:r>
            <a:r>
              <a:rPr lang="fr-FR" dirty="0"/>
              <a:t> </a:t>
            </a:r>
            <a:r>
              <a:rPr lang="fr-FR" dirty="0">
                <a:sym typeface="Wingdings" panose="05000000000000000000" pitchFamily="2" charset="2"/>
              </a:rPr>
              <a:t> retourne si la valeur est un nombre fini</a:t>
            </a:r>
          </a:p>
          <a:p>
            <a:pPr lvl="2"/>
            <a:r>
              <a:rPr lang="fr-FR" dirty="0">
                <a:sym typeface="Wingdings" panose="05000000000000000000" pitchFamily="2" charset="2"/>
              </a:rPr>
              <a:t>Fonction de conversion</a:t>
            </a:r>
          </a:p>
          <a:p>
            <a:pPr lvl="3"/>
            <a:r>
              <a:rPr lang="fr-FR" dirty="0" err="1">
                <a:sym typeface="Wingdings" panose="05000000000000000000" pitchFamily="2" charset="2"/>
              </a:rPr>
              <a:t>parseInt</a:t>
            </a:r>
            <a:r>
              <a:rPr lang="fr-FR" dirty="0">
                <a:sym typeface="Wingdings" panose="05000000000000000000" pitchFamily="2" charset="2"/>
              </a:rPr>
              <a:t>(s) ou </a:t>
            </a:r>
            <a:r>
              <a:rPr lang="fr-FR" dirty="0" err="1">
                <a:sym typeface="Wingdings" panose="05000000000000000000" pitchFamily="2" charset="2"/>
              </a:rPr>
              <a:t>parseInt</a:t>
            </a:r>
            <a:r>
              <a:rPr lang="fr-FR" dirty="0">
                <a:sym typeface="Wingdings" panose="05000000000000000000" pitchFamily="2" charset="2"/>
              </a:rPr>
              <a:t>(s, base)</a:t>
            </a:r>
          </a:p>
          <a:p>
            <a:pPr lvl="3"/>
            <a:r>
              <a:rPr lang="fr-FR" dirty="0" err="1">
                <a:sym typeface="Wingdings" panose="05000000000000000000" pitchFamily="2" charset="2"/>
              </a:rPr>
              <a:t>parseFloat</a:t>
            </a:r>
            <a:r>
              <a:rPr lang="fr-FR" dirty="0">
                <a:sym typeface="Wingdings" panose="05000000000000000000" pitchFamily="2" charset="2"/>
              </a:rPr>
              <a:t>(s)</a:t>
            </a:r>
          </a:p>
          <a:p>
            <a:pPr lvl="3"/>
            <a:r>
              <a:rPr lang="fr-FR" dirty="0" err="1">
                <a:sym typeface="Wingdings" panose="05000000000000000000" pitchFamily="2" charset="2"/>
              </a:rPr>
              <a:t>Number</a:t>
            </a:r>
            <a:r>
              <a:rPr lang="fr-FR" dirty="0">
                <a:sym typeface="Wingdings" panose="05000000000000000000" pitchFamily="2" charset="2"/>
              </a:rPr>
              <a:t>(</a:t>
            </a:r>
            <a:r>
              <a:rPr lang="fr-FR" dirty="0" err="1">
                <a:sym typeface="Wingdings" panose="05000000000000000000" pitchFamily="2" charset="2"/>
              </a:rPr>
              <a:t>obj</a:t>
            </a:r>
            <a:r>
              <a:rPr lang="fr-FR" dirty="0">
                <a:sym typeface="Wingdings" panose="05000000000000000000" pitchFamily="2" charset="2"/>
              </a:rPr>
              <a:t>)</a:t>
            </a:r>
          </a:p>
          <a:p>
            <a:pPr lvl="3"/>
            <a:r>
              <a:rPr lang="fr-FR" dirty="0">
                <a:sym typeface="Wingdings" panose="05000000000000000000" pitchFamily="2" charset="2"/>
              </a:rPr>
              <a:t>String(</a:t>
            </a:r>
            <a:r>
              <a:rPr lang="fr-FR" dirty="0" err="1">
                <a:sym typeface="Wingdings" panose="05000000000000000000" pitchFamily="2" charset="2"/>
              </a:rPr>
              <a:t>obj</a:t>
            </a:r>
            <a:r>
              <a:rPr lang="fr-FR" dirty="0">
                <a:sym typeface="Wingdings" panose="05000000000000000000" pitchFamily="2" charset="2"/>
              </a:rPr>
              <a:t>)</a:t>
            </a:r>
          </a:p>
          <a:p>
            <a:pPr lvl="3"/>
            <a:r>
              <a:rPr lang="fr-FR" dirty="0">
                <a:sym typeface="Wingdings" panose="05000000000000000000" pitchFamily="2" charset="2"/>
              </a:rPr>
              <a:t>Boolean(</a:t>
            </a:r>
            <a:r>
              <a:rPr lang="fr-FR" dirty="0" err="1">
                <a:sym typeface="Wingdings" panose="05000000000000000000" pitchFamily="2" charset="2"/>
              </a:rPr>
              <a:t>obj</a:t>
            </a:r>
            <a:r>
              <a:rPr lang="fr-FR" dirty="0">
                <a:sym typeface="Wingdings" panose="05000000000000000000" pitchFamily="2" charset="2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84607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FE8CA-D86A-EE59-0139-AFC6AC333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6E11CE-4AA1-D6A5-B944-FBB0EB4FF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Fonctions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1135592-F50F-EB10-6DE9-83341582F6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Fonction nommée ( &lt;&gt; fonction anonymes)</a:t>
            </a:r>
          </a:p>
          <a:p>
            <a:pPr lvl="1"/>
            <a:r>
              <a:rPr lang="fr-FR" dirty="0"/>
              <a:t>Exercice</a:t>
            </a:r>
            <a:r>
              <a:rPr lang="fr-BE" dirty="0"/>
              <a:t>s</a:t>
            </a:r>
          </a:p>
          <a:p>
            <a:pPr lvl="2"/>
            <a:r>
              <a:rPr lang="fr-BE" dirty="0"/>
              <a:t>1</a:t>
            </a:r>
            <a:r>
              <a:rPr lang="fr-FR" dirty="0"/>
              <a:t>. Considérez le code. </a:t>
            </a:r>
            <a:br>
              <a:rPr lang="fr-FR" dirty="0"/>
            </a:br>
            <a:r>
              <a:rPr lang="fr-FR" dirty="0"/>
              <a:t>Qu’affichera la console ?</a:t>
            </a:r>
          </a:p>
          <a:p>
            <a:pPr lvl="2"/>
            <a:r>
              <a:rPr lang="fr-FR" dirty="0"/>
              <a:t>2. si on déclare la fonction via </a:t>
            </a:r>
            <a:br>
              <a:rPr lang="fr-FR" dirty="0"/>
            </a:br>
            <a:r>
              <a:rPr lang="fr-FR" dirty="0"/>
              <a:t>une expression fonctionnelle et un </a:t>
            </a:r>
            <a:br>
              <a:rPr lang="fr-FR" dirty="0"/>
            </a:br>
            <a:r>
              <a:rPr lang="fr-FR" dirty="0"/>
              <a:t>var. Qu’affichera la console ?</a:t>
            </a:r>
          </a:p>
          <a:p>
            <a:pPr lvl="2"/>
            <a:r>
              <a:rPr lang="fr-FR" dirty="0"/>
              <a:t>3. Quel est le terme utilisé pour </a:t>
            </a:r>
            <a:br>
              <a:rPr lang="fr-FR" dirty="0"/>
            </a:br>
            <a:r>
              <a:rPr lang="fr-FR" dirty="0"/>
              <a:t>définir la mécanique qui induit les différences de valeurs pour l’exercice 1 et 2 ?</a:t>
            </a:r>
          </a:p>
          <a:p>
            <a:pPr lvl="2"/>
            <a:endParaRPr lang="fr-FR" dirty="0"/>
          </a:p>
          <a:p>
            <a:pPr lvl="2"/>
            <a:endParaRPr lang="fr-BE" dirty="0"/>
          </a:p>
        </p:txBody>
      </p:sp>
      <p:pic>
        <p:nvPicPr>
          <p:cNvPr id="5" name="Image 4" descr="Une image contenant texte, Police, écriture manuscrite&#10;&#10;Le contenu généré par l’IA peut être incorrect.">
            <a:extLst>
              <a:ext uri="{FF2B5EF4-FFF2-40B4-BE49-F238E27FC236}">
                <a16:creationId xmlns:a16="http://schemas.microsoft.com/office/drawing/2014/main" id="{EA76A292-91F8-4C49-AEF1-48B4907440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5530" y="2495419"/>
            <a:ext cx="3762900" cy="1867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3862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FCD61E-C4B7-B4B5-B6E9-92A968077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77EAC9E-8FA8-BEB8-A8CD-53E80670B4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1494418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57A4A1-D510-D983-87EE-17F1C27AE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Tableaux</a:t>
            </a:r>
            <a:br>
              <a:rPr lang="fr-BE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BA7028-6FB9-3388-E8D5-D477E1802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BE" dirty="0"/>
              <a:t>Caractéristiques</a:t>
            </a:r>
          </a:p>
          <a:p>
            <a:pPr lvl="2"/>
            <a:r>
              <a:rPr lang="fr-BE" dirty="0"/>
              <a:t>Hétérogènes et (potentiellement) multidimensionnels </a:t>
            </a:r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r>
              <a:rPr lang="fr-BE" dirty="0"/>
              <a:t>Dynamiques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3DEE9E2-B825-FC61-A4EA-383AA49FA1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2628" y="2710459"/>
            <a:ext cx="6058746" cy="25721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A1872921-E759-D74A-A32A-E9D6E51866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5856" y="2615195"/>
            <a:ext cx="3677163" cy="4477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0735F2EA-ACD2-BBDB-E0CC-3ACE151960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3419" y="3771252"/>
            <a:ext cx="1838582" cy="2381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5E5D590A-F0E6-26E1-90E2-2D204AAF180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2106" y="3666462"/>
            <a:ext cx="4572638" cy="4477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04372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DE034-B6DC-5702-1C0A-34283AAB6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E6375F-F123-214B-241A-F163EBB96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Tableaux</a:t>
            </a:r>
            <a:br>
              <a:rPr lang="fr-BE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EF6AAD-4B7E-5FE5-EEF9-6C24B0576E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BE" dirty="0"/>
              <a:t>Création </a:t>
            </a:r>
          </a:p>
          <a:p>
            <a:pPr lvl="2"/>
            <a:r>
              <a:rPr lang="fr-BE" dirty="0"/>
              <a:t>Méthode 1 : utiliser un littéral</a:t>
            </a:r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r>
              <a:rPr lang="fr-BE" dirty="0"/>
              <a:t>Méthode 2 : utiliser un constructeur</a:t>
            </a:r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r>
              <a:rPr lang="fr-BE" dirty="0"/>
              <a:t>Tableau vide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7879FFF-F881-639B-E692-1BE3C3C074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6579" y="2725971"/>
            <a:ext cx="2038635" cy="3048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813C9B9F-B950-B417-1361-268B527541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6579" y="3783502"/>
            <a:ext cx="3143689" cy="2953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Image 8" descr="Une image contenant texte, Police, ligne, typographie&#10;&#10;Le contenu généré par l’IA peut être incorrect.">
            <a:extLst>
              <a:ext uri="{FF2B5EF4-FFF2-40B4-BE49-F238E27FC236}">
                <a16:creationId xmlns:a16="http://schemas.microsoft.com/office/drawing/2014/main" id="{60FD5659-D7F9-6B03-89FC-F6D0F849EB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6579" y="4908558"/>
            <a:ext cx="3467584" cy="60015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3885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4FE5B-13ED-3624-0D8B-32BB8FF18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95CDC2-65F6-2706-FB74-15B69F218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Tableaux</a:t>
            </a:r>
            <a:br>
              <a:rPr lang="fr-BE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1A44597-52CB-186F-5B24-99299E182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BE" dirty="0"/>
              <a:t>Utilisation</a:t>
            </a:r>
          </a:p>
          <a:p>
            <a:pPr lvl="2"/>
            <a:r>
              <a:rPr lang="fr-BE" dirty="0"/>
              <a:t>Accéder aux éléments</a:t>
            </a:r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r>
              <a:rPr lang="fr-BE" dirty="0"/>
              <a:t>Accès hors borne ?</a:t>
            </a:r>
          </a:p>
          <a:p>
            <a:pPr lvl="3"/>
            <a:r>
              <a:rPr lang="fr-BE" dirty="0"/>
              <a:t>En lecture, renvoie </a:t>
            </a:r>
            <a:r>
              <a:rPr lang="fr-BE" dirty="0" err="1"/>
              <a:t>undefined</a:t>
            </a:r>
            <a:endParaRPr lang="fr-BE" dirty="0"/>
          </a:p>
          <a:p>
            <a:pPr lvl="3"/>
            <a:r>
              <a:rPr lang="fr-BE" dirty="0"/>
              <a:t>En écriture, modifie la longueur du tableau</a:t>
            </a:r>
          </a:p>
          <a:p>
            <a:pPr lvl="2"/>
            <a:endParaRPr lang="fr-BE" dirty="0"/>
          </a:p>
          <a:p>
            <a:pPr lvl="2"/>
            <a:r>
              <a:rPr lang="fr-FR" dirty="0"/>
              <a:t>⚠️ Pas de déclaration, pas de tableaux. Et pas de tableaux, pas d’accès.</a:t>
            </a:r>
          </a:p>
          <a:p>
            <a:pPr lvl="2"/>
            <a:r>
              <a:rPr lang="fr-FR" dirty="0"/>
              <a:t>Et pas d’accès, pas d’accès</a:t>
            </a:r>
            <a:endParaRPr lang="fr-BE" dirty="0"/>
          </a:p>
          <a:p>
            <a:pPr lvl="2"/>
            <a:endParaRPr lang="fr-BE" dirty="0"/>
          </a:p>
        </p:txBody>
      </p:sp>
      <p:pic>
        <p:nvPicPr>
          <p:cNvPr id="5" name="Image 4" descr="Une image contenant texte, Police, ligne, blanc&#10;&#10;Le contenu généré par l’IA peut être incorrect.">
            <a:extLst>
              <a:ext uri="{FF2B5EF4-FFF2-40B4-BE49-F238E27FC236}">
                <a16:creationId xmlns:a16="http://schemas.microsoft.com/office/drawing/2014/main" id="{995337E7-C430-DEB9-4CAD-48A06AC56F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4653" y="2626995"/>
            <a:ext cx="6582694" cy="8764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40451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30167-D4B2-4313-6E34-F55F5A7C6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993FC9-05C9-9001-283F-33DD32CBD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Tableaux</a:t>
            </a:r>
            <a:br>
              <a:rPr lang="fr-BE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7EAF4AD-C6C1-BDD2-1E26-4E28671FA4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BE" dirty="0"/>
              <a:t>Taille</a:t>
            </a:r>
          </a:p>
          <a:p>
            <a:pPr lvl="2"/>
            <a:r>
              <a:rPr lang="fr-BE" dirty="0"/>
              <a:t>Pour obtenir la taille</a:t>
            </a:r>
          </a:p>
          <a:p>
            <a:pPr marL="1371600" lvl="3" indent="0">
              <a:buNone/>
            </a:pPr>
            <a:r>
              <a:rPr lang="fr-BE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tab.length</a:t>
            </a:r>
            <a:r>
              <a:rPr lang="fr-B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fr-BE" dirty="0"/>
              <a:t>(on peut aussi écrire </a:t>
            </a:r>
            <a:r>
              <a:rPr lang="fr-B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tab["</a:t>
            </a:r>
            <a:r>
              <a:rPr lang="fr-BE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length</a:t>
            </a:r>
            <a:r>
              <a:rPr lang="fr-B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"] </a:t>
            </a:r>
            <a:r>
              <a:rPr lang="fr-BE" dirty="0"/>
              <a:t>)</a:t>
            </a:r>
          </a:p>
          <a:p>
            <a:pPr lvl="2"/>
            <a:r>
              <a:rPr lang="fr-BE" dirty="0"/>
              <a:t>La taille d’un tableau est dynamique</a:t>
            </a:r>
          </a:p>
          <a:p>
            <a:pPr lvl="3"/>
            <a:r>
              <a:rPr lang="fr-BE" dirty="0"/>
              <a:t>Si on diminue la longueur, les cases hors limite sont détruites et leurs valeurs sont perdues</a:t>
            </a:r>
          </a:p>
          <a:p>
            <a:pPr lvl="3"/>
            <a:r>
              <a:rPr lang="fr-BE" dirty="0"/>
              <a:t>Si on augmente la longueur, on ajoute des cases vides</a:t>
            </a:r>
          </a:p>
          <a:p>
            <a:pPr lvl="2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090662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0364C-3D92-BF3C-57F1-C826F7377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F0B289-31C2-52A9-C28C-8164767DE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Tableaux</a:t>
            </a:r>
            <a:br>
              <a:rPr lang="fr-BE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8A5DBCF-F3ED-8781-64E3-26BF419D3F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BE" dirty="0"/>
              <a:t>Parcours</a:t>
            </a:r>
          </a:p>
          <a:p>
            <a:pPr lvl="2"/>
            <a:r>
              <a:rPr lang="fr-BE" dirty="0"/>
              <a:t>On parcours via des boucles de 3 types</a:t>
            </a:r>
          </a:p>
          <a:p>
            <a:pPr lvl="3"/>
            <a:r>
              <a:rPr lang="fr-BE" dirty="0"/>
              <a:t>Boucles usuelles: for, </a:t>
            </a:r>
            <a:r>
              <a:rPr lang="fr-BE" dirty="0" err="1"/>
              <a:t>while</a:t>
            </a:r>
            <a:r>
              <a:rPr lang="fr-BE" dirty="0"/>
              <a:t>, do…</a:t>
            </a:r>
            <a:r>
              <a:rPr lang="fr-BE" dirty="0" err="1"/>
              <a:t>while</a:t>
            </a:r>
            <a:endParaRPr lang="fr-BE" dirty="0"/>
          </a:p>
          <a:p>
            <a:pPr lvl="3"/>
            <a:endParaRPr lang="fr-BE" dirty="0"/>
          </a:p>
          <a:p>
            <a:pPr lvl="3"/>
            <a:endParaRPr lang="fr-BE" dirty="0"/>
          </a:p>
          <a:p>
            <a:pPr lvl="3"/>
            <a:endParaRPr lang="fr-BE" dirty="0"/>
          </a:p>
          <a:p>
            <a:pPr lvl="3"/>
            <a:endParaRPr lang="fr-BE" dirty="0"/>
          </a:p>
          <a:p>
            <a:pPr lvl="4"/>
            <a:r>
              <a:rPr lang="fr-BE" dirty="0"/>
              <a:t>« let » permet d’avoir une variable locale à la boucle</a:t>
            </a:r>
          </a:p>
          <a:p>
            <a:pPr lvl="4"/>
            <a:r>
              <a:rPr lang="fr-BE" dirty="0"/>
              <a:t>Avec « let » à chaque itération une variable i est créé</a:t>
            </a:r>
          </a:p>
          <a:p>
            <a:pPr lvl="3"/>
            <a:endParaRPr lang="fr-BE" dirty="0"/>
          </a:p>
          <a:p>
            <a:pPr lvl="3"/>
            <a:endParaRPr lang="fr-BE" dirty="0"/>
          </a:p>
          <a:p>
            <a:pPr lvl="3"/>
            <a:endParaRPr lang="fr-BE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9DC6C79-D08B-072C-B5EC-DC76DE76CF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75" y="2991880"/>
            <a:ext cx="5553850" cy="6382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67032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E5B5-17F6-6580-3F7F-91408597F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5E605C-8D07-DAAE-6A9B-69286DBF0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Tableaux</a:t>
            </a:r>
            <a:br>
              <a:rPr lang="fr-BE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3AE64D-3ABA-9B6E-8CC4-DEF4358297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BE" dirty="0"/>
              <a:t>Parcours</a:t>
            </a:r>
          </a:p>
          <a:p>
            <a:pPr lvl="2"/>
            <a:r>
              <a:rPr lang="fr-BE" dirty="0"/>
              <a:t>On parcours via des boucles de 3 types</a:t>
            </a:r>
          </a:p>
          <a:p>
            <a:pPr lvl="3"/>
            <a:r>
              <a:rPr lang="fr-BE" dirty="0"/>
              <a:t>Boucle « for in »</a:t>
            </a:r>
          </a:p>
          <a:p>
            <a:pPr lvl="4"/>
            <a:endParaRPr lang="fr-BE" dirty="0"/>
          </a:p>
          <a:p>
            <a:pPr lvl="4"/>
            <a:endParaRPr lang="fr-BE" dirty="0"/>
          </a:p>
          <a:p>
            <a:pPr lvl="4"/>
            <a:r>
              <a:rPr lang="fr-BE" dirty="0"/>
              <a:t>« i » prend comme valeurs les indices des cases</a:t>
            </a:r>
          </a:p>
          <a:p>
            <a:pPr lvl="4"/>
            <a:r>
              <a:rPr lang="fr-BE" dirty="0"/>
              <a:t>Les trous sont sautés</a:t>
            </a:r>
          </a:p>
          <a:p>
            <a:pPr lvl="3"/>
            <a:r>
              <a:rPr lang="fr-BE" dirty="0"/>
              <a:t>Boucle « for of »</a:t>
            </a:r>
          </a:p>
          <a:p>
            <a:pPr lvl="4"/>
            <a:endParaRPr lang="fr-BE" dirty="0"/>
          </a:p>
          <a:p>
            <a:pPr lvl="4"/>
            <a:endParaRPr lang="fr-BE" dirty="0"/>
          </a:p>
          <a:p>
            <a:pPr lvl="4"/>
            <a:r>
              <a:rPr lang="fr-BE" dirty="0"/>
              <a:t>« val » prend comme valeurs le contenu des cases</a:t>
            </a:r>
          </a:p>
          <a:p>
            <a:pPr lvl="4"/>
            <a:r>
              <a:rPr lang="fr-BE" dirty="0"/>
              <a:t>Les trous ne sont pas sautés, et sont considéré comme contenant </a:t>
            </a:r>
            <a:r>
              <a:rPr lang="fr-BE" dirty="0" err="1"/>
              <a:t>undefined</a:t>
            </a:r>
            <a:endParaRPr lang="fr-BE" dirty="0"/>
          </a:p>
          <a:p>
            <a:pPr lvl="4"/>
            <a:endParaRPr lang="fr-BE" dirty="0"/>
          </a:p>
          <a:p>
            <a:pPr lvl="3"/>
            <a:endParaRPr lang="fr-BE" dirty="0"/>
          </a:p>
          <a:p>
            <a:pPr lvl="3"/>
            <a:endParaRPr lang="fr-BE" dirty="0"/>
          </a:p>
          <a:p>
            <a:pPr lvl="3"/>
            <a:endParaRPr lang="fr-BE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8B73CDF-E7A3-EAB6-0D22-ABAE17EEF4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3811" y="2874068"/>
            <a:ext cx="5744377" cy="3429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3B418B82-8673-5470-C821-FC44346A7E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3811" y="4525515"/>
            <a:ext cx="6192114" cy="3429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3277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B31ADB-4040-0A0A-B0F7-803ABE486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8C5731-BDFB-BA1F-93A2-60BC0F65BF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521807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64D760-C980-2E13-DD3C-1574E4AD0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3. Objets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B038C06-E48D-8116-7C99-9E01D1C12D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1"/>
            <a:r>
              <a:rPr lang="fr-FR" dirty="0"/>
              <a:t>Caractéristique </a:t>
            </a:r>
            <a:endParaRPr lang="fr-BE" dirty="0"/>
          </a:p>
          <a:p>
            <a:pPr lvl="2"/>
            <a:r>
              <a:rPr lang="fr-BE" dirty="0"/>
              <a:t>Un objet est un tableau associatif dynamique</a:t>
            </a:r>
          </a:p>
          <a:p>
            <a:pPr lvl="3"/>
            <a:r>
              <a:rPr lang="fr-B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Tableau</a:t>
            </a:r>
            <a:r>
              <a:rPr lang="fr-BE" dirty="0"/>
              <a:t> = suite de cases contenant des valeurs</a:t>
            </a:r>
          </a:p>
          <a:p>
            <a:pPr lvl="3"/>
            <a:r>
              <a:rPr lang="fr-BE" dirty="0"/>
              <a:t>Cases numérotées de 0 à n</a:t>
            </a:r>
          </a:p>
          <a:p>
            <a:pPr lvl="3"/>
            <a:r>
              <a:rPr lang="fr-BE" dirty="0"/>
              <a:t>Valeurs accessibles via l’indice</a:t>
            </a:r>
          </a:p>
          <a:p>
            <a:pPr lvl="3"/>
            <a:r>
              <a:rPr lang="fr-B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Associatif</a:t>
            </a:r>
            <a:r>
              <a:rPr lang="fr-BE" dirty="0"/>
              <a:t> = les « cases » ne sont plus numérotées mais repérées par des « clefs »</a:t>
            </a:r>
          </a:p>
          <a:p>
            <a:pPr lvl="3"/>
            <a:r>
              <a:rPr lang="fr-BE" dirty="0"/>
              <a:t>Exemples</a:t>
            </a:r>
          </a:p>
          <a:p>
            <a:pPr lvl="4"/>
            <a:r>
              <a:rPr lang="fr-FR" dirty="0"/>
              <a:t>année["HTML"] = 1 clef = "HTML", valeur = 1</a:t>
            </a:r>
          </a:p>
          <a:p>
            <a:pPr lvl="4"/>
            <a:r>
              <a:rPr lang="fr-FR" dirty="0"/>
              <a:t>année["CSS"] = 1 clef = "CSS", valeur = 1</a:t>
            </a:r>
          </a:p>
          <a:p>
            <a:pPr lvl="4"/>
            <a:r>
              <a:rPr lang="fr-FR" dirty="0"/>
              <a:t>année["Javascript"] = 2 clef = "Javascript", valeur = 2</a:t>
            </a:r>
          </a:p>
          <a:p>
            <a:pPr lvl="4"/>
            <a:r>
              <a:rPr lang="fr-FR" dirty="0"/>
              <a:t>année["PHP"] = 3 clef = "PHP", valeur = 3</a:t>
            </a:r>
          </a:p>
          <a:p>
            <a:pPr lvl="4"/>
            <a:r>
              <a:rPr lang="fr-FR" dirty="0"/>
              <a:t>traduction["dog"] = "chien"</a:t>
            </a:r>
          </a:p>
          <a:p>
            <a:pPr lvl="4"/>
            <a:r>
              <a:rPr lang="fr-FR" dirty="0"/>
              <a:t>traduction["</a:t>
            </a:r>
            <a:r>
              <a:rPr lang="fr-FR" dirty="0" err="1"/>
              <a:t>brother</a:t>
            </a:r>
            <a:r>
              <a:rPr lang="fr-FR" dirty="0"/>
              <a:t>"] = "frère"</a:t>
            </a:r>
          </a:p>
          <a:p>
            <a:pPr lvl="4"/>
            <a:r>
              <a:rPr lang="fr-FR" dirty="0"/>
              <a:t>traduction["end"] = "fin"</a:t>
            </a:r>
          </a:p>
          <a:p>
            <a:pPr lvl="4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00685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AB610-5161-CC03-79C2-2B1353362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6FD669-7872-594D-57E0-B0C5E53CE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3. Objets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FF55A1-BCC2-52DE-3220-975E0DFB3C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Création</a:t>
            </a:r>
          </a:p>
          <a:p>
            <a:pPr lvl="2"/>
            <a:r>
              <a:rPr lang="fr-FR" dirty="0"/>
              <a:t>Méthode 1 : créer un objet vide, puis lui ajouter des propriétés (comme les tableaux)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r>
              <a:rPr lang="fr-FR" dirty="0"/>
              <a:t>Méthode 2 : créer un objet qui possède déjà des propriétés avec un littéral (comme les tableaux)</a:t>
            </a:r>
          </a:p>
          <a:p>
            <a:pPr lvl="2"/>
            <a:endParaRPr lang="fr-FR" dirty="0"/>
          </a:p>
          <a:p>
            <a:endParaRPr lang="fr-BE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FE45979-B287-880C-0514-06BC87BEA6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0141" y="2581157"/>
            <a:ext cx="1448002" cy="2857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Image 10" descr="Une image contenant Police, texte, Bleu électrique, ligne&#10;&#10;Le contenu généré par l’IA peut être incorrect.">
            <a:extLst>
              <a:ext uri="{FF2B5EF4-FFF2-40B4-BE49-F238E27FC236}">
                <a16:creationId xmlns:a16="http://schemas.microsoft.com/office/drawing/2014/main" id="{4E4A8913-B856-D9B5-E34C-A050447EC2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9398" y="2819436"/>
            <a:ext cx="2534004" cy="56205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Image 12" descr="Une image contenant texte, Police, écriture manuscrite, Bleu électrique&#10;&#10;Le contenu généré par l’IA peut être incorrect.">
            <a:extLst>
              <a:ext uri="{FF2B5EF4-FFF2-40B4-BE49-F238E27FC236}">
                <a16:creationId xmlns:a16="http://schemas.microsoft.com/office/drawing/2014/main" id="{FF9661F7-2561-035E-B73B-64C35276C0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2056" y="3381489"/>
            <a:ext cx="4772691" cy="8002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Image 14" descr="Une image contenant texte, Police, écriture manuscrite, ligne&#10;&#10;Le contenu généré par l’IA peut être incorrect.">
            <a:extLst>
              <a:ext uri="{FF2B5EF4-FFF2-40B4-BE49-F238E27FC236}">
                <a16:creationId xmlns:a16="http://schemas.microsoft.com/office/drawing/2014/main" id="{CF447815-8E86-A23C-F239-ABC293B595C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7918" y="4593300"/>
            <a:ext cx="6449325" cy="19910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60450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F49BF-DFFE-F880-86DF-ED3043A20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EBCF89-7656-917B-9983-31BB55932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3. Objets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4282AC0-F67C-317D-F3DD-C5068CCA5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Utilisation</a:t>
            </a:r>
          </a:p>
          <a:p>
            <a:pPr lvl="2"/>
            <a:r>
              <a:rPr lang="fr-BE" dirty="0"/>
              <a:t>Accéder aux propriétés (en lecture ou en écriture) </a:t>
            </a:r>
          </a:p>
          <a:p>
            <a:pPr lvl="3"/>
            <a:r>
              <a:rPr lang="fr-BE" dirty="0"/>
              <a:t>Deux syntaxes possibles : </a:t>
            </a:r>
            <a:r>
              <a:rPr lang="fr-BE" dirty="0" err="1"/>
              <a:t>h.nom</a:t>
            </a:r>
            <a:r>
              <a:rPr lang="fr-BE" dirty="0"/>
              <a:t> ou h["nom"] </a:t>
            </a:r>
          </a:p>
          <a:p>
            <a:pPr lvl="3"/>
            <a:r>
              <a:rPr lang="fr-BE" dirty="0"/>
              <a:t>On peut modifier (ajouter/modifier) les propriétés puisqu’un objet en JS est dynamique</a:t>
            </a:r>
          </a:p>
          <a:p>
            <a:pPr lvl="4"/>
            <a:r>
              <a:rPr lang="fr-BE" dirty="0"/>
              <a:t>Ajouter </a:t>
            </a:r>
          </a:p>
          <a:p>
            <a:pPr lvl="4"/>
            <a:r>
              <a:rPr lang="fr-BE" dirty="0"/>
              <a:t>Modifier </a:t>
            </a:r>
          </a:p>
          <a:p>
            <a:pPr lvl="4"/>
            <a:endParaRPr lang="fr-BE" dirty="0"/>
          </a:p>
          <a:p>
            <a:pPr lvl="4"/>
            <a:endParaRPr lang="fr-BE" dirty="0"/>
          </a:p>
          <a:p>
            <a:pPr lvl="4"/>
            <a:r>
              <a:rPr lang="fr-BE" dirty="0"/>
              <a:t>Supprimer </a:t>
            </a:r>
          </a:p>
          <a:p>
            <a:pPr lvl="2"/>
            <a:endParaRPr lang="fr-BE" dirty="0"/>
          </a:p>
          <a:p>
            <a:pPr marL="914400" lvl="2" indent="0">
              <a:buNone/>
            </a:pP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1512652-EB77-F800-E770-BD92DB129A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0433" y="3200368"/>
            <a:ext cx="2514951" cy="22863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 descr="Une image contenant texte, Police, ligne, blanc&#10;&#10;Le contenu généré par l’IA peut être incorrect.">
            <a:extLst>
              <a:ext uri="{FF2B5EF4-FFF2-40B4-BE49-F238E27FC236}">
                <a16:creationId xmlns:a16="http://schemas.microsoft.com/office/drawing/2014/main" id="{FE96862B-58BA-61FF-CCB8-5565E85C0D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0433" y="3588486"/>
            <a:ext cx="3924848" cy="7335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A54DA365-85E5-5662-4827-805406CF09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0433" y="4765627"/>
            <a:ext cx="1543265" cy="22863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13973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CAEC4-CC90-F99B-8466-B896CCE0A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D3ED8D9-7DD6-9158-25A7-C1D146D8F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3. Objets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9CE5A49-6422-50C5-EBB0-670F22E47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Utilisation</a:t>
            </a:r>
          </a:p>
          <a:p>
            <a:pPr lvl="2"/>
            <a:r>
              <a:rPr lang="fr-BE" dirty="0"/>
              <a:t>Egalité (revient à tester l’égalité de leurs références)</a:t>
            </a:r>
          </a:p>
          <a:p>
            <a:pPr lvl="2"/>
            <a:r>
              <a:rPr lang="fr-BE" dirty="0"/>
              <a:t>Même sémantique que pour == et ===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r>
              <a:rPr lang="fr-FR" dirty="0"/>
              <a:t>L’opérateur « in » permet de savoir si un objet </a:t>
            </a:r>
            <a:br>
              <a:rPr lang="fr-FR" dirty="0"/>
            </a:br>
            <a:r>
              <a:rPr lang="fr-FR" dirty="0"/>
              <a:t>a une propriété du nom demandé</a:t>
            </a:r>
            <a:endParaRPr lang="fr-BE" dirty="0"/>
          </a:p>
        </p:txBody>
      </p:sp>
      <p:pic>
        <p:nvPicPr>
          <p:cNvPr id="6" name="Image 5" descr="Une image contenant text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0E8258C5-3914-6557-4A84-2024D53BB8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4396" y="2576309"/>
            <a:ext cx="2972830" cy="23105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Image 9" descr="Une image contenant texte, Police, blanc, ligne&#10;&#10;Le contenu généré par l’IA peut être incorrect.">
            <a:extLst>
              <a:ext uri="{FF2B5EF4-FFF2-40B4-BE49-F238E27FC236}">
                <a16:creationId xmlns:a16="http://schemas.microsoft.com/office/drawing/2014/main" id="{D418A9F3-1934-9DAF-B9AA-D85921D841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708" y="5367442"/>
            <a:ext cx="2962688" cy="7049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28453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5E415-3C54-D2FF-9153-1FAE1B1EA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71C8A6-E349-30B9-7ADD-7FE61E1E7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3. Objets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7EE34FD-65B0-760A-5F0D-964C521EA4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Utilisation</a:t>
            </a:r>
          </a:p>
          <a:p>
            <a:pPr lvl="2"/>
            <a:r>
              <a:rPr lang="fr-FR" dirty="0"/>
              <a:t>La boucle for-in: </a:t>
            </a:r>
          </a:p>
          <a:p>
            <a:pPr lvl="3"/>
            <a:r>
              <a:rPr lang="fr-FR" dirty="0"/>
              <a:t>Passe en revue toutes les propriétés énumérables de l’objet</a:t>
            </a:r>
          </a:p>
        </p:txBody>
      </p:sp>
      <p:pic>
        <p:nvPicPr>
          <p:cNvPr id="5" name="Image 4" descr="Une image contenant texte, Police, écriture manuscrite, ligne&#10;&#10;Le contenu généré par l’IA peut être incorrect.">
            <a:extLst>
              <a:ext uri="{FF2B5EF4-FFF2-40B4-BE49-F238E27FC236}">
                <a16:creationId xmlns:a16="http://schemas.microsoft.com/office/drawing/2014/main" id="{EC3E5534-2DB2-3C2B-5D0C-ACFBED98F0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1917" y="2995509"/>
            <a:ext cx="5668166" cy="14765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18386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F5606-E6B9-2913-950E-E0F691839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362ED9-9A79-C87E-AC03-741D65DDD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3. Objets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9DEAD06-C5BE-72AC-4685-A8A393049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Utilisation</a:t>
            </a:r>
          </a:p>
          <a:p>
            <a:pPr lvl="2"/>
            <a:r>
              <a:rPr lang="fr-FR" dirty="0"/>
              <a:t>La boucle for-of :</a:t>
            </a:r>
          </a:p>
          <a:p>
            <a:pPr lvl="3"/>
            <a:r>
              <a:rPr lang="fr-FR" dirty="0"/>
              <a:t>Passe en revue les valeurs des propriétés énumérables de l’objet</a:t>
            </a:r>
          </a:p>
          <a:p>
            <a:pPr lvl="3"/>
            <a:r>
              <a:rPr lang="fr-FR" dirty="0"/>
              <a:t>Uniquement pour les objets itérables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6C8E105-AD5E-BE91-536E-ED19C2CA01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7521" y="3343977"/>
            <a:ext cx="6496957" cy="6573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08290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42BD2-8A72-DF81-5028-97EB7524D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5D5784-92ED-A3E1-425A-F3BD8CA66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3. Objets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B83CA1-6A86-9427-A13C-BF9EB251CC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Valeurs primitives</a:t>
            </a:r>
          </a:p>
          <a:p>
            <a:pPr lvl="2"/>
            <a:r>
              <a:rPr lang="fr-BE" dirty="0"/>
              <a:t>Comparaison entre les valeurs primitives et les objets</a:t>
            </a:r>
            <a:endParaRPr lang="fr-FR" dirty="0"/>
          </a:p>
        </p:txBody>
      </p:sp>
      <p:pic>
        <p:nvPicPr>
          <p:cNvPr id="5" name="Image 4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E83EDBB0-AA55-117C-8D46-4EC18AD57B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4126" y="2667289"/>
            <a:ext cx="6963747" cy="246731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57587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0993-2A96-148F-BE46-787DD84B8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E728269-C8C2-A2A7-2DE9-13B5EA471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3. Objets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C4BAE0D-4A60-E9D7-A8E0-06B3484183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Orienté objet : le point</a:t>
            </a:r>
          </a:p>
          <a:p>
            <a:pPr lvl="2"/>
            <a:r>
              <a:rPr lang="fr-BE" dirty="0"/>
              <a:t>Objets = tableaux associatifs</a:t>
            </a:r>
          </a:p>
          <a:p>
            <a:pPr lvl="2"/>
            <a:r>
              <a:rPr lang="fr-BE" dirty="0"/>
              <a:t>Méthodes = propriétés dont la valeur est une fonction (</a:t>
            </a:r>
            <a:r>
              <a:rPr lang="fr-BE" dirty="0" err="1"/>
              <a:t>this</a:t>
            </a:r>
            <a:r>
              <a:rPr lang="fr-BE" dirty="0"/>
              <a:t> pour faire référence à l'objet)</a:t>
            </a:r>
          </a:p>
          <a:p>
            <a:pPr lvl="2"/>
            <a:r>
              <a:rPr lang="fr-BE" dirty="0"/>
              <a:t>3 syntaxes disponibles : OO (</a:t>
            </a:r>
            <a:r>
              <a:rPr lang="fr-BE" dirty="0" err="1"/>
              <a:t>o.prop</a:t>
            </a:r>
            <a:r>
              <a:rPr lang="fr-BE" dirty="0"/>
              <a:t>), tableau (o["</a:t>
            </a:r>
            <a:r>
              <a:rPr lang="fr-BE" dirty="0" err="1"/>
              <a:t>prop</a:t>
            </a:r>
            <a:r>
              <a:rPr lang="fr-BE" dirty="0"/>
              <a:t>"]), littéral</a:t>
            </a:r>
          </a:p>
          <a:p>
            <a:pPr lvl="2"/>
            <a:r>
              <a:rPr lang="fr-BE" dirty="0"/>
              <a:t>Structure dynamique : on peut ajouter, modifier ou supprimer des propriétés !</a:t>
            </a:r>
          </a:p>
          <a:p>
            <a:pPr lvl="2"/>
            <a:r>
              <a:rPr lang="fr-BE" dirty="0"/>
              <a:t>Pour les objets : in, for in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146056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E33D02D-D9B8-90ED-F4E7-4CFA75423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C2D3CFB-421E-4E7D-4BC7-2885364280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0292803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8FE86A2-0F7A-E98D-9F3A-66CFAFB38B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Prototypes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579F74D-4889-F9C1-76A5-2825DFD6A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Pour faciliter l’approche des objets en JS, on peut découper les concepts en plusieurs niveaux</a:t>
            </a:r>
          </a:p>
          <a:p>
            <a:pPr marL="0" indent="0">
              <a:buNone/>
            </a:pPr>
            <a:endParaRPr lang="fr-BE" dirty="0"/>
          </a:p>
        </p:txBody>
      </p:sp>
      <p:pic>
        <p:nvPicPr>
          <p:cNvPr id="7" name="Image 6" descr="Une image contenant texte, Police, blanc, typographie&#10;&#10;Le contenu généré par l’IA peut être incorrect.">
            <a:extLst>
              <a:ext uri="{FF2B5EF4-FFF2-40B4-BE49-F238E27FC236}">
                <a16:creationId xmlns:a16="http://schemas.microsoft.com/office/drawing/2014/main" id="{317C1968-4518-78AD-1A3E-4B5A2924D7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9263" y="2609340"/>
            <a:ext cx="4201111" cy="6954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Image 8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12EE5208-56F7-6D27-35E9-FE8868B7F4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9263" y="3439699"/>
            <a:ext cx="6849431" cy="16766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Image 10" descr="Une image contenant text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EC44C29-4064-6855-E8A7-85D63E5684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9263" y="5251270"/>
            <a:ext cx="7030431" cy="140037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52516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DB299-2F04-255E-7E08-96CFA04B8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9E1B30-D8DD-AF27-4C27-944750B8A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Prototypes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0BAB235-56D0-6B12-12EE-A3BE18E08C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Pourquoi faire ?</a:t>
            </a:r>
          </a:p>
          <a:p>
            <a:pPr lvl="2"/>
            <a:r>
              <a:rPr lang="fr-FR" dirty="0"/>
              <a:t>Des objets pour des personnages</a:t>
            </a:r>
          </a:p>
          <a:p>
            <a:pPr lvl="3"/>
            <a:r>
              <a:rPr lang="fr-FR" dirty="0"/>
              <a:t>let perso1 = { nom: "Hercule", classe: "guerrier", </a:t>
            </a:r>
            <a:r>
              <a:rPr lang="fr-FR" dirty="0" err="1"/>
              <a:t>pv</a:t>
            </a:r>
            <a:r>
              <a:rPr lang="fr-FR" dirty="0"/>
              <a:t>: 21 };</a:t>
            </a:r>
          </a:p>
          <a:p>
            <a:pPr lvl="3"/>
            <a:r>
              <a:rPr lang="fr-FR" dirty="0"/>
              <a:t>let perso2 = { nom: "Robin", classe: "archer", </a:t>
            </a:r>
            <a:r>
              <a:rPr lang="fr-FR" dirty="0" err="1"/>
              <a:t>pv</a:t>
            </a:r>
            <a:r>
              <a:rPr lang="fr-FR" dirty="0"/>
              <a:t>: 16 };</a:t>
            </a:r>
          </a:p>
          <a:p>
            <a:pPr lvl="3"/>
            <a:r>
              <a:rPr lang="fr-FR" dirty="0"/>
              <a:t>let perso3 = { nom: "</a:t>
            </a:r>
            <a:r>
              <a:rPr lang="fr-FR" dirty="0" err="1"/>
              <a:t>Gandalf</a:t>
            </a:r>
            <a:r>
              <a:rPr lang="fr-FR" dirty="0"/>
              <a:t>", classe: "magicien", </a:t>
            </a:r>
            <a:r>
              <a:rPr lang="fr-FR" dirty="0" err="1"/>
              <a:t>pv</a:t>
            </a:r>
            <a:r>
              <a:rPr lang="fr-FR" dirty="0"/>
              <a:t>: 12 };</a:t>
            </a:r>
          </a:p>
          <a:p>
            <a:pPr lvl="3"/>
            <a:endParaRPr lang="fr-FR" dirty="0"/>
          </a:p>
          <a:p>
            <a:pPr lvl="3"/>
            <a:endParaRPr lang="fr-FR" dirty="0"/>
          </a:p>
          <a:p>
            <a:pPr lvl="3"/>
            <a:endParaRPr lang="fr-FR" dirty="0"/>
          </a:p>
          <a:p>
            <a:pPr lvl="3"/>
            <a:endParaRPr lang="fr-FR" dirty="0"/>
          </a:p>
          <a:p>
            <a:pPr lvl="3"/>
            <a:endParaRPr lang="fr-FR" dirty="0"/>
          </a:p>
          <a:p>
            <a:pPr lvl="3"/>
            <a:r>
              <a:rPr lang="fr-FR" dirty="0"/>
              <a:t>On veut une méthode qui présente le personnage. Comment faire ?</a:t>
            </a:r>
          </a:p>
          <a:p>
            <a:pPr marL="0" indent="0">
              <a:buNone/>
            </a:pPr>
            <a:endParaRPr lang="fr-BE" dirty="0"/>
          </a:p>
        </p:txBody>
      </p:sp>
      <p:pic>
        <p:nvPicPr>
          <p:cNvPr id="5" name="Image 4" descr="Une image contenant texte, Polic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31D30BAD-C6F4-610E-01AD-CBED62FD1F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2205" y="3683941"/>
            <a:ext cx="7087589" cy="118126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38975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6B916-A84E-5115-4EA8-111D0AB25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B9E513-1E8D-713F-4B8A-D56C88137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Prototypes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18ACBD6-3F92-8BDA-DCEA-93F74CFBE9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Pourquoi faire ?</a:t>
            </a:r>
          </a:p>
          <a:p>
            <a:pPr lvl="2"/>
            <a:r>
              <a:rPr lang="fr-FR" dirty="0"/>
              <a:t>Des objets pour des personnages, un prototype pour les gouverner tous.</a:t>
            </a:r>
          </a:p>
          <a:p>
            <a:pPr marL="0" indent="0">
              <a:buNone/>
            </a:pPr>
            <a:endParaRPr lang="fr-BE" dirty="0"/>
          </a:p>
        </p:txBody>
      </p:sp>
      <p:pic>
        <p:nvPicPr>
          <p:cNvPr id="6" name="Image 5" descr="Une image contenant texte, Police, capture d’écran, nombre&#10;&#10;Le contenu généré par l’IA peut être incorrect.">
            <a:extLst>
              <a:ext uri="{FF2B5EF4-FFF2-40B4-BE49-F238E27FC236}">
                <a16:creationId xmlns:a16="http://schemas.microsoft.com/office/drawing/2014/main" id="{7F7BF03D-A9BE-41C8-A338-B2B2F5715B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0731" y="2720002"/>
            <a:ext cx="7430537" cy="25625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91844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74A36-EBFE-EF84-C4D4-4DE18E938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956F7B-83EB-2276-407C-6E090ECFE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Prototypes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6F5507F-FF2E-0BA7-B467-43D6D36649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Création</a:t>
            </a:r>
          </a:p>
          <a:p>
            <a:pPr lvl="2"/>
            <a:r>
              <a:rPr lang="fr-FR" dirty="0"/>
              <a:t>Pour la création, c’est un objet comme un autre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marL="914400" lvl="2" indent="0">
              <a:buNone/>
            </a:pPr>
            <a:endParaRPr lang="fr-FR" dirty="0"/>
          </a:p>
          <a:p>
            <a:pPr lvl="2"/>
            <a:r>
              <a:rPr lang="fr-FR" dirty="0"/>
              <a:t>Pour créer un objet héritant</a:t>
            </a:r>
          </a:p>
          <a:p>
            <a:endParaRPr lang="fr-BE" dirty="0"/>
          </a:p>
        </p:txBody>
      </p:sp>
      <p:pic>
        <p:nvPicPr>
          <p:cNvPr id="5" name="Image 4" descr="Une image contenant texte, Police, ligne, écriture manuscrite&#10;&#10;Le contenu généré par l’IA peut être incorrect.">
            <a:extLst>
              <a:ext uri="{FF2B5EF4-FFF2-40B4-BE49-F238E27FC236}">
                <a16:creationId xmlns:a16="http://schemas.microsoft.com/office/drawing/2014/main" id="{EB3CDA3F-E3DE-7A3E-5F29-A5F63AD24C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3205" y="2573334"/>
            <a:ext cx="6725589" cy="15146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97327AAA-6FBB-610B-092C-7F5FEC9B45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7626" y="4784780"/>
            <a:ext cx="5696745" cy="6954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79535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584EC-C215-5E88-2DA1-1C669A583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82263F6-48B3-880A-2890-11C791770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Prototypes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BD73B41-1C3D-1533-60CA-92F6556A1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Héritage</a:t>
            </a:r>
          </a:p>
          <a:p>
            <a:pPr lvl="2"/>
            <a:r>
              <a:rPr lang="fr-FR" dirty="0" err="1"/>
              <a:t>Object.create</a:t>
            </a:r>
            <a:r>
              <a:rPr lang="fr-FR" dirty="0"/>
              <a:t> : créer un objet avec un prototype donné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r>
              <a:rPr lang="fr-FR" dirty="0" err="1"/>
              <a:t>Object.setPrototypeOf</a:t>
            </a:r>
            <a:r>
              <a:rPr lang="fr-FR" dirty="0"/>
              <a:t> : permet de modifier le prototype d’un objet déjà créer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r>
              <a:rPr lang="fr-FR" dirty="0" err="1"/>
              <a:t>Object.assign</a:t>
            </a:r>
            <a:r>
              <a:rPr lang="fr-FR" dirty="0"/>
              <a:t>: permet d’ajouter plusieurs propriétés à un objet existant (écrase les propriétés existantes en cas de conflit)</a:t>
            </a:r>
          </a:p>
          <a:p>
            <a:endParaRPr lang="fr-BE" dirty="0"/>
          </a:p>
        </p:txBody>
      </p:sp>
      <p:pic>
        <p:nvPicPr>
          <p:cNvPr id="5" name="Image 4" descr="Une image contenant texte, Police, capture d’écran, Bleu électrique&#10;&#10;Le contenu généré par l’IA peut être incorrect.">
            <a:extLst>
              <a:ext uri="{FF2B5EF4-FFF2-40B4-BE49-F238E27FC236}">
                <a16:creationId xmlns:a16="http://schemas.microsoft.com/office/drawing/2014/main" id="{8F12D031-69F1-38A1-3F2B-BD82E761D9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8921" y="2513290"/>
            <a:ext cx="3594158" cy="9157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 descr="Une image contenant texte, Polic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A792B68A-DEBA-15AF-1469-1AFDD64EFD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3282" y="3958939"/>
            <a:ext cx="5065436" cy="9321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Image 8" descr="Une image contenant texte, Polic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27BEDA68-8878-82CD-F773-FF7669EE96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4130" y="5302590"/>
            <a:ext cx="3609742" cy="12752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05359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FC102-0A6F-F1BD-6460-91EF1E5EB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5BBCA1-D782-1523-A7AE-BB695B952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Prototypes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A6CDF5B-31E8-8429-B6A3-258B920016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__proto__</a:t>
            </a:r>
            <a:endParaRPr lang="fr-BE" dirty="0"/>
          </a:p>
          <a:p>
            <a:pPr lvl="2"/>
            <a:r>
              <a:rPr lang="fr-BE" dirty="0"/>
              <a:t>JS utilise une propriété dans les objets liés à un prototype</a:t>
            </a:r>
          </a:p>
          <a:p>
            <a:pPr lvl="3"/>
            <a:r>
              <a:rPr lang="fr-BE" dirty="0"/>
              <a:t>Quand une propriété demandée n’existe pas, il va la chercher dans le __proto__</a:t>
            </a:r>
          </a:p>
          <a:p>
            <a:pPr lvl="3"/>
            <a:r>
              <a:rPr lang="fr-BE" dirty="0"/>
              <a:t>__proto__ est une propriété référence vers le prototype de l’objet</a:t>
            </a:r>
          </a:p>
          <a:p>
            <a:pPr lvl="3"/>
            <a:r>
              <a:rPr lang="fr-BE" dirty="0"/>
              <a:t>La mécanique du __proto__ remonte l’arborescence si il y a besoin</a:t>
            </a:r>
          </a:p>
          <a:p>
            <a:pPr lvl="3"/>
            <a:endParaRPr lang="fr-BE" dirty="0"/>
          </a:p>
          <a:p>
            <a:pPr lvl="3"/>
            <a:r>
              <a:rPr lang="fr-BE" dirty="0"/>
              <a:t>Les propriétés de l’objet prototype sont donc partagées par tout ses descendants</a:t>
            </a:r>
          </a:p>
          <a:p>
            <a:pPr lvl="3"/>
            <a:r>
              <a:rPr lang="fr-BE" dirty="0"/>
              <a:t>2 implications:</a:t>
            </a:r>
          </a:p>
          <a:p>
            <a:pPr lvl="4"/>
            <a:r>
              <a:rPr lang="fr-BE" dirty="0"/>
              <a:t>On place les éléments communs dans une même famille (méthodes, attributs)</a:t>
            </a:r>
          </a:p>
          <a:p>
            <a:pPr lvl="4"/>
            <a:r>
              <a:rPr lang="fr-BE" dirty="0"/>
              <a:t>Si on modifie le prototype, on affecte tous ses héritiers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70190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8DFF3-7B0F-0377-C2B1-303E629B4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CD3CF8-2132-0AFE-DC5C-4D7CACE61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Prototypes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BA8417-C37A-B27C-1570-988824844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Exercices. Qu’est-ce qui sera afficher ? </a:t>
            </a:r>
            <a:endParaRPr lang="fr-BE" dirty="0"/>
          </a:p>
          <a:p>
            <a:endParaRPr lang="fr-BE" dirty="0"/>
          </a:p>
        </p:txBody>
      </p:sp>
      <p:pic>
        <p:nvPicPr>
          <p:cNvPr id="9" name="Image 8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E6566B34-5E4A-8E52-50A6-AF1F6554FB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6013" y="2366249"/>
            <a:ext cx="6363588" cy="3620005"/>
          </a:xfrm>
          <a:prstGeom prst="rect">
            <a:avLst/>
          </a:prstGeom>
        </p:spPr>
      </p:pic>
      <p:pic>
        <p:nvPicPr>
          <p:cNvPr id="11" name="Image 10" descr="Une image contenant texte, Police, lign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53248B3-CBD5-A18D-0E60-8E697B48D6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1447" y="3742106"/>
            <a:ext cx="2810267" cy="2048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409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E1A35-8BC6-5B9E-94FC-2338BBB66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7A4081F-E3FA-D591-1BD6-5388591B2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Prototypes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1D4F9E5-7FD9-20B0-F775-157CCA9E07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Exercices. Qu’est-ce qui sera afficher ? </a:t>
            </a:r>
            <a:endParaRPr lang="fr-BE" dirty="0"/>
          </a:p>
          <a:p>
            <a:endParaRPr lang="fr-BE" dirty="0"/>
          </a:p>
        </p:txBody>
      </p:sp>
      <p:pic>
        <p:nvPicPr>
          <p:cNvPr id="10" name="Image 9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0FCAC13B-A001-9784-E9FC-E42F9C46AB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8272" y="2346891"/>
            <a:ext cx="6420746" cy="3639058"/>
          </a:xfrm>
          <a:prstGeom prst="rect">
            <a:avLst/>
          </a:prstGeom>
        </p:spPr>
      </p:pic>
      <p:pic>
        <p:nvPicPr>
          <p:cNvPr id="12" name="Image 11" descr="Une image contenant texte, Polic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6F207F13-1268-D531-40A5-EA56546085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9193" y="3947314"/>
            <a:ext cx="2819794" cy="2038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0097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758558-7A16-5D11-FA2E-111797FAC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04045EF-A804-8D8D-120B-ACB45225E5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13166184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818EBE-82CE-5198-51DD-BCA95850D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5. Constructeurs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B4DF96E-D1DE-E09C-093F-D049F0C6B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Définition</a:t>
            </a:r>
          </a:p>
          <a:p>
            <a:pPr lvl="2"/>
            <a:r>
              <a:rPr lang="fr-FR" dirty="0"/>
              <a:t>Un constructeur est</a:t>
            </a:r>
          </a:p>
          <a:p>
            <a:pPr lvl="3"/>
            <a:r>
              <a:rPr lang="fr-FR" dirty="0"/>
              <a:t>Une fonction</a:t>
            </a:r>
          </a:p>
          <a:p>
            <a:pPr lvl="3"/>
            <a:r>
              <a:rPr lang="fr-FR" dirty="0"/>
              <a:t>Qui va permettre de créer des objets à partir de ses arguments</a:t>
            </a:r>
          </a:p>
          <a:p>
            <a:pPr lvl="3"/>
            <a:r>
              <a:rPr lang="fr-FR" dirty="0"/>
              <a:t>Qui va agir sur un objet nouvellement crée appelé « </a:t>
            </a:r>
            <a:r>
              <a:rPr lang="fr-FR" dirty="0" err="1"/>
              <a:t>this</a:t>
            </a:r>
            <a:r>
              <a:rPr lang="fr-FR" dirty="0"/>
              <a:t> »</a:t>
            </a:r>
          </a:p>
          <a:p>
            <a:pPr lvl="3"/>
            <a:r>
              <a:rPr lang="fr-FR" dirty="0"/>
              <a:t>Qu’on va utiliser avec le mot-clef « new » afin de créer d’autres objets</a:t>
            </a:r>
          </a:p>
        </p:txBody>
      </p:sp>
      <p:pic>
        <p:nvPicPr>
          <p:cNvPr id="5" name="Image 4" descr="Une image contenant texte, Polic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71C5809C-B71E-3C95-4338-232A25E0EF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2465" y="4001294"/>
            <a:ext cx="3801005" cy="13813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A284EC0A-5D9B-3EC1-A9C0-6796848237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7931" y="5455892"/>
            <a:ext cx="6839905" cy="6477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05026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EFAD0-5EE1-B591-FDED-EE9044B0D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EE73738-F7D7-1E2E-5134-BC04E5336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5. Constructeurs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7941D7A-5913-CBAF-04FA-DF93DBEA17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Bonne utilisation</a:t>
            </a:r>
          </a:p>
          <a:p>
            <a:endParaRPr lang="fr-BE" dirty="0"/>
          </a:p>
        </p:txBody>
      </p:sp>
      <p:pic>
        <p:nvPicPr>
          <p:cNvPr id="5" name="Image 4" descr="Une image contenant texte, Police, capture d’écran, Bleu électrique&#10;&#10;Le contenu généré par l’IA peut être incorrect.">
            <a:extLst>
              <a:ext uri="{FF2B5EF4-FFF2-40B4-BE49-F238E27FC236}">
                <a16:creationId xmlns:a16="http://schemas.microsoft.com/office/drawing/2014/main" id="{FC340DAF-5BDF-EEEE-FA0A-43FABC9218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5509" y="2322764"/>
            <a:ext cx="4725059" cy="15242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 descr="Une image contenant texte, Police, lign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2C1A2A87-4E79-ED46-3CEB-4910425174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6628" y="2302476"/>
            <a:ext cx="4201111" cy="8192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Image 9" descr="Une image contenant texte, capture d’écran, Police, diagramme&#10;&#10;Le contenu généré par l’IA peut être incorrect.">
            <a:extLst>
              <a:ext uri="{FF2B5EF4-FFF2-40B4-BE49-F238E27FC236}">
                <a16:creationId xmlns:a16="http://schemas.microsoft.com/office/drawing/2014/main" id="{F34238D4-A1AC-E968-3068-74F7516DD5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6628" y="3429000"/>
            <a:ext cx="3743847" cy="2943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557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85471-6EE2-0914-B130-B63B4FF7D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0B6B91-2EA0-8B20-1BD9-A7ADBBC9C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5. Constructeurs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A84A0AA-0713-A520-FC23-292C7924BF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Mauvaise Utilisation</a:t>
            </a:r>
          </a:p>
          <a:p>
            <a:endParaRPr lang="fr-BE" dirty="0"/>
          </a:p>
        </p:txBody>
      </p:sp>
      <p:pic>
        <p:nvPicPr>
          <p:cNvPr id="5" name="Image 4" descr="Une image contenant texte, Police, capture d’écran, Bleu électrique&#10;&#10;Le contenu généré par l’IA peut être incorrect.">
            <a:extLst>
              <a:ext uri="{FF2B5EF4-FFF2-40B4-BE49-F238E27FC236}">
                <a16:creationId xmlns:a16="http://schemas.microsoft.com/office/drawing/2014/main" id="{7E8A4B1F-83FA-78EC-A085-9729690006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0492" y="2239475"/>
            <a:ext cx="5630061" cy="18481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 descr="Une image contenant texte, Polic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237E06A5-20C2-0C4D-6BA8-82A418DFAD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4805" y="3163529"/>
            <a:ext cx="3524742" cy="27531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49583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TM03457475[[fn=Cadre]]</Template>
  <TotalTime>1545</TotalTime>
  <Words>1694</Words>
  <Application>Microsoft Office PowerPoint</Application>
  <PresentationFormat>Grand écran</PresentationFormat>
  <Paragraphs>328</Paragraphs>
  <Slides>41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41</vt:i4>
      </vt:variant>
    </vt:vector>
  </HeadingPairs>
  <TitlesOfParts>
    <vt:vector size="46" baseType="lpstr">
      <vt:lpstr>Aptos</vt:lpstr>
      <vt:lpstr>Aptos Display</vt:lpstr>
      <vt:lpstr>Arial</vt:lpstr>
      <vt:lpstr>Wingdings</vt:lpstr>
      <vt:lpstr>Thème Office</vt:lpstr>
      <vt:lpstr>Module 1 – Programmation web Frontend</vt:lpstr>
      <vt:lpstr>Planning</vt:lpstr>
      <vt:lpstr>Chapitre 6</vt:lpstr>
      <vt:lpstr>Chapitre 6</vt:lpstr>
      <vt:lpstr>Chapitre 6</vt:lpstr>
      <vt:lpstr>Présentation PowerPoint</vt:lpstr>
      <vt:lpstr>1. Fonctions</vt:lpstr>
      <vt:lpstr>1. Fonctions</vt:lpstr>
      <vt:lpstr>1. Fonctions</vt:lpstr>
      <vt:lpstr>1. Fonctions</vt:lpstr>
      <vt:lpstr>1. Fonctions</vt:lpstr>
      <vt:lpstr>1. Fonctions</vt:lpstr>
      <vt:lpstr>Présentation PowerPoint</vt:lpstr>
      <vt:lpstr>2. Tableaux </vt:lpstr>
      <vt:lpstr>2. Tableaux </vt:lpstr>
      <vt:lpstr>2. Tableaux </vt:lpstr>
      <vt:lpstr>2. Tableaux </vt:lpstr>
      <vt:lpstr>2. Tableaux </vt:lpstr>
      <vt:lpstr>2. Tableaux </vt:lpstr>
      <vt:lpstr>Présentation PowerPoint</vt:lpstr>
      <vt:lpstr>3. Objets </vt:lpstr>
      <vt:lpstr>3. Objets </vt:lpstr>
      <vt:lpstr>3. Objets </vt:lpstr>
      <vt:lpstr>3. Objets </vt:lpstr>
      <vt:lpstr>3. Objets </vt:lpstr>
      <vt:lpstr>3. Objets </vt:lpstr>
      <vt:lpstr>3. Objets </vt:lpstr>
      <vt:lpstr>3. Objets </vt:lpstr>
      <vt:lpstr>Présentation PowerPoint</vt:lpstr>
      <vt:lpstr>4. Prototypes </vt:lpstr>
      <vt:lpstr>4. Prototypes </vt:lpstr>
      <vt:lpstr>4. Prototypes </vt:lpstr>
      <vt:lpstr>4. Prototypes </vt:lpstr>
      <vt:lpstr>4. Prototypes </vt:lpstr>
      <vt:lpstr>4. Prototypes </vt:lpstr>
      <vt:lpstr>4. Prototypes </vt:lpstr>
      <vt:lpstr>4. Prototypes </vt:lpstr>
      <vt:lpstr>Présentation PowerPoint</vt:lpstr>
      <vt:lpstr>5. Constructeurs </vt:lpstr>
      <vt:lpstr>5. Constructeurs </vt:lpstr>
      <vt:lpstr>5. Constructeurs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joachim lejeune</dc:creator>
  <cp:lastModifiedBy>joachim lejeune</cp:lastModifiedBy>
  <cp:revision>19</cp:revision>
  <dcterms:created xsi:type="dcterms:W3CDTF">2025-12-26T14:13:51Z</dcterms:created>
  <dcterms:modified xsi:type="dcterms:W3CDTF">2026-01-06T17:07:58Z</dcterms:modified>
</cp:coreProperties>
</file>